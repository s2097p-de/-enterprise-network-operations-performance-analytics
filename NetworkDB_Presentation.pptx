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Zone-wise Avg Latency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Latency (ms)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5E3-479A-AFFA-0F6093607FC9}"/>
              </c:ext>
            </c:extLst>
          </c:dPt>
          <c:dPt>
            <c:idx val="1"/>
            <c:invertIfNegative val="0"/>
            <c:bubble3D val="0"/>
            <c:spPr>
              <a:solidFill>
                <a:srgbClr val="00C2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E3-479A-AFFA-0F6093607FC9}"/>
              </c:ext>
            </c:extLst>
          </c:dPt>
          <c:dPt>
            <c:idx val="2"/>
            <c:invertIfNegative val="0"/>
            <c:bubble3D val="0"/>
            <c:spPr>
              <a:solidFill>
                <a:srgbClr val="0277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E3-479A-AFFA-0F6093607FC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Zone A</c:v>
                </c:pt>
                <c:pt idx="1">
                  <c:v>Zone B</c:v>
                </c:pt>
                <c:pt idx="2">
                  <c:v>Zone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95</c:v>
                </c:pt>
                <c:pt idx="2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E3-479A-AFFA-0F6093607F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Weekly Bandwidth Usage by Zone (GB)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Zone A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</c:v>
                </c:pt>
                <c:pt idx="1">
                  <c:v>55</c:v>
                </c:pt>
                <c:pt idx="2">
                  <c:v>48</c:v>
                </c:pt>
                <c:pt idx="3">
                  <c:v>63</c:v>
                </c:pt>
                <c:pt idx="4">
                  <c:v>71</c:v>
                </c:pt>
                <c:pt idx="5">
                  <c:v>38</c:v>
                </c:pt>
                <c:pt idx="6">
                  <c:v>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4F8-4567-B46D-6F3D11E037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Zone B</c:v>
                </c:pt>
              </c:strCache>
            </c:strRef>
          </c:tx>
          <c:spPr>
            <a:ln w="25400" cap="flat">
              <a:solidFill>
                <a:srgbClr val="00C2E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2E0"/>
              </a:solidFill>
              <a:ln w="9525" cap="flat">
                <a:solidFill>
                  <a:srgbClr val="00C2E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31</c:v>
                </c:pt>
                <c:pt idx="1">
                  <c:v>41</c:v>
                </c:pt>
                <c:pt idx="2">
                  <c:v>39</c:v>
                </c:pt>
                <c:pt idx="3">
                  <c:v>52</c:v>
                </c:pt>
                <c:pt idx="4">
                  <c:v>58</c:v>
                </c:pt>
                <c:pt idx="5">
                  <c:v>30</c:v>
                </c:pt>
                <c:pt idx="6">
                  <c:v>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4F8-4567-B46D-6F3D11E037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Zone C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18</c:v>
                </c:pt>
                <c:pt idx="1">
                  <c:v>25</c:v>
                </c:pt>
                <c:pt idx="2">
                  <c:v>22</c:v>
                </c:pt>
                <c:pt idx="3">
                  <c:v>31</c:v>
                </c:pt>
                <c:pt idx="4">
                  <c:v>35</c:v>
                </c:pt>
                <c:pt idx="5">
                  <c:v>19</c:v>
                </c:pt>
                <c:pt idx="6">
                  <c:v>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4F8-4567-B46D-6F3D11E037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Incident Type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9E2-4D0B-B969-9AE3A157E67B}"/>
              </c:ext>
            </c:extLst>
          </c:dPt>
          <c:dPt>
            <c:idx val="1"/>
            <c:bubble3D val="0"/>
            <c:spPr>
              <a:solidFill>
                <a:srgbClr val="B7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E2-4D0B-B969-9AE3A157E67B}"/>
              </c:ext>
            </c:extLst>
          </c:dPt>
          <c:dPt>
            <c:idx val="2"/>
            <c:bubble3D val="0"/>
            <c:spPr>
              <a:solidFill>
                <a:srgbClr val="F57F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E2-4D0B-B969-9AE3A157E67B}"/>
              </c:ext>
            </c:extLst>
          </c:dPt>
          <c:dPt>
            <c:idx val="3"/>
            <c:bubble3D val="0"/>
            <c:spPr>
              <a:solidFill>
                <a:srgbClr val="0277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E2-4D0B-B969-9AE3A157E67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E2-4D0B-B969-9AE3A157E67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E2-4D0B-B969-9AE3A157E67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9E2-4D0B-B969-9AE3A157E67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9E2-4D0B-B969-9AE3A157E67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Downtime</c:v>
                </c:pt>
                <c:pt idx="1">
                  <c:v>Security Breach</c:v>
                </c:pt>
                <c:pt idx="2">
                  <c:v>High Latency</c:v>
                </c:pt>
                <c:pt idx="3">
                  <c:v>Config Error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9E2-4D0B-B969-9AE3A157E6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243B5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Total Incidents per Zone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43-4ACA-BDBC-EF2240766F31}"/>
              </c:ext>
            </c:extLst>
          </c:dPt>
          <c:dPt>
            <c:idx val="1"/>
            <c:invertIfNegative val="0"/>
            <c:bubble3D val="0"/>
            <c:spPr>
              <a:solidFill>
                <a:srgbClr val="F57F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43-4ACA-BDBC-EF2240766F31}"/>
              </c:ext>
            </c:extLst>
          </c:dPt>
          <c:dPt>
            <c:idx val="2"/>
            <c:invertIfNegative val="0"/>
            <c:bubble3D val="0"/>
            <c:spPr>
              <a:solidFill>
                <a:srgbClr val="0079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43-4ACA-BDBC-EF2240766F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Zone A</c:v>
                </c:pt>
                <c:pt idx="1">
                  <c:v>Zone B</c:v>
                </c:pt>
                <c:pt idx="2">
                  <c:v>Zone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12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43-4ACA-BDBC-EF2240766F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43B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B5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Data Usage Distribution (GB)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 Usage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1FE-479E-8F5C-68C59563C879}"/>
              </c:ext>
            </c:extLst>
          </c:dPt>
          <c:dPt>
            <c:idx val="1"/>
            <c:bubble3D val="0"/>
            <c:spPr>
              <a:solidFill>
                <a:srgbClr val="00C2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FE-479E-8F5C-68C59563C879}"/>
              </c:ext>
            </c:extLst>
          </c:dPt>
          <c:dPt>
            <c:idx val="2"/>
            <c:bubble3D val="0"/>
            <c:spPr>
              <a:solidFill>
                <a:srgbClr val="6A1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1FE-479E-8F5C-68C59563C87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FE-479E-8F5C-68C59563C87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FE-479E-8F5C-68C59563C87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1FE-479E-8F5C-68C59563C87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Zone A</c:v>
                </c:pt>
                <c:pt idx="1">
                  <c:v>Zone B</c:v>
                </c:pt>
                <c:pt idx="2">
                  <c:v>Zone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4520</c:v>
                </c:pt>
                <c:pt idx="1">
                  <c:v>3180</c:v>
                </c:pt>
                <c:pt idx="2">
                  <c:v>1850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1FE-479E-8F5C-68C59563C8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243B5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Device Type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Devices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77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19-4F7E-816E-D9FB6F8098D2}"/>
              </c:ext>
            </c:extLst>
          </c:dPt>
          <c:dPt>
            <c:idx val="1"/>
            <c:bubble3D val="0"/>
            <c:spPr>
              <a:solidFill>
                <a:srgbClr val="0079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19-4F7E-816E-D9FB6F8098D2}"/>
              </c:ext>
            </c:extLst>
          </c:dPt>
          <c:dPt>
            <c:idx val="2"/>
            <c:bubble3D val="0"/>
            <c:spPr>
              <a:solidFill>
                <a:srgbClr val="6A1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19-4F7E-816E-D9FB6F8098D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D19-4F7E-816E-D9FB6F8098D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D19-4F7E-816E-D9FB6F8098D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D19-4F7E-816E-D9FB6F8098D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Router</c:v>
                </c:pt>
                <c:pt idx="1">
                  <c:v>Switch</c:v>
                </c:pt>
                <c:pt idx="2">
                  <c:v>Server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19-4F7E-816E-D9FB6F8098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Network Activity by Hour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 Count</c:v>
                </c:pt>
              </c:strCache>
            </c:strRef>
          </c:tx>
          <c:spPr>
            <a:solidFill>
              <a:srgbClr val="00C2E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00-03</c:v>
                </c:pt>
                <c:pt idx="1">
                  <c:v>03-06</c:v>
                </c:pt>
                <c:pt idx="2">
                  <c:v>06-09</c:v>
                </c:pt>
                <c:pt idx="3">
                  <c:v>09-12</c:v>
                </c:pt>
                <c:pt idx="4">
                  <c:v>12-15</c:v>
                </c:pt>
                <c:pt idx="5">
                  <c:v>15-18</c:v>
                </c:pt>
                <c:pt idx="6">
                  <c:v>18-21</c:v>
                </c:pt>
                <c:pt idx="7">
                  <c:v>21-24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22</c:v>
                </c:pt>
                <c:pt idx="2">
                  <c:v>210</c:v>
                </c:pt>
                <c:pt idx="3">
                  <c:v>480</c:v>
                </c:pt>
                <c:pt idx="4">
                  <c:v>520</c:v>
                </c:pt>
                <c:pt idx="5">
                  <c:v>460</c:v>
                </c:pt>
                <c:pt idx="6">
                  <c:v>190</c:v>
                </c:pt>
                <c:pt idx="7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D7-4C29-918C-6CFDDC1F2F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B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B5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Access Type Breakdown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Access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1D2-4D46-BDD2-C854C9DACCFB}"/>
              </c:ext>
            </c:extLst>
          </c:dPt>
          <c:dPt>
            <c:idx val="1"/>
            <c:bubble3D val="0"/>
            <c:spPr>
              <a:solidFill>
                <a:srgbClr val="0277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D2-4D46-BDD2-C854C9DACCFB}"/>
              </c:ext>
            </c:extLst>
          </c:dPt>
          <c:dPt>
            <c:idx val="2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D2-4D46-BDD2-C854C9DACCF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D2-4D46-BDD2-C854C9DACCF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D2-4D46-BDD2-C854C9DACCF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1D2-4D46-BDD2-C854C9DACCF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VPN</c:v>
                </c:pt>
                <c:pt idx="1">
                  <c:v>Internal</c:v>
                </c:pt>
                <c:pt idx="2">
                  <c:v>External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D2-4D46-BDD2-C854C9DACC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243B5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801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4572000" cy="27432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82880"/>
            <a:ext cx="3200400" cy="22860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56032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88036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20040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256032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0" y="288036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320040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256032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88036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320040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56032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88036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320040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256032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288036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3200400"/>
            <a:ext cx="109728" cy="109728"/>
          </a:xfrm>
          <a:prstGeom prst="ellipse">
            <a:avLst/>
          </a:prstGeom>
          <a:solidFill>
            <a:srgbClr val="00C2E0">
              <a:alpha val="40000"/>
            </a:srgbClr>
          </a:solidFill>
          <a:ln w="12700">
            <a:solidFill>
              <a:srgbClr val="00C2E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NETWORK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10972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Performance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System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48640" y="28803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SQL-based analytical platform for real-time network monitoring,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management, security analysis, and bandwidth optimization.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7731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NetworkDB  |  MySQL  |  6 Core Tables  |  100+ Analytical Queries  |  Enterprise Grade</a:t>
            </a:r>
            <a:endParaRPr 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BF299A-DF78-511A-E006-2E82677C4718}"/>
              </a:ext>
            </a:extLst>
          </p:cNvPr>
          <p:cNvSpPr txBox="1"/>
          <p:nvPr/>
        </p:nvSpPr>
        <p:spPr>
          <a:xfrm>
            <a:off x="5799406" y="4367963"/>
            <a:ext cx="3344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Presented By- SANTANU PATHAK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NetworkDB?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system designed to monitor, analyze, and optimize enterprise network infrastructure through structured data and SQL analytics.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01168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2011680" cy="54864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659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51460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device status, latency, bandwidth usage &amp; connection health in real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828800"/>
            <a:ext cx="2011680" cy="2560320"/>
          </a:xfrm>
          <a:prstGeom prst="rect">
            <a:avLst/>
          </a:prstGeom>
          <a:solidFill>
            <a:srgbClr val="0098B8"/>
          </a:solidFill>
          <a:ln w="12700">
            <a:solidFill>
              <a:srgbClr val="0098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828800"/>
            <a:ext cx="2011680" cy="54864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9659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classify &amp; measure resolution time for downtime &amp; security breaches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828800"/>
            <a:ext cx="2011680" cy="2560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828800"/>
            <a:ext cx="2011680" cy="54864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9659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251460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anomalies, failed logins, off-hours access &amp; suspicious activity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828800"/>
            <a:ext cx="2011680" cy="25603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828800"/>
            <a:ext cx="2011680" cy="54864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19659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KPIs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2864" y="2514600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uptime, MTTR, MTBF, packet success rate &amp; bandwidth capacity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" y="4572000"/>
            <a:ext cx="1737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Tables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4709160"/>
            <a:ext cx="18288" cy="29260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4572000"/>
            <a:ext cx="1737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SQL Queries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4709160"/>
            <a:ext cx="18288" cy="29260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572000"/>
            <a:ext cx="1737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Categories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4709160"/>
            <a:ext cx="18288" cy="29260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4572000"/>
            <a:ext cx="1737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Network Zones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4709160"/>
            <a:ext cx="18288" cy="29260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4572000"/>
            <a:ext cx="1737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Access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6-Table Relational Design — NetworkDB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697480" cy="1691640"/>
          </a:xfrm>
          <a:prstGeom prst="rect">
            <a:avLst/>
          </a:prstGeom>
          <a:solidFill>
            <a:srgbClr val="243B55"/>
          </a:solidFill>
          <a:ln w="19050">
            <a:solidFill>
              <a:srgbClr val="0069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2697480" cy="347472"/>
          </a:xfrm>
          <a:prstGeom prst="rect">
            <a:avLst/>
          </a:prstGeom>
          <a:solidFill>
            <a:srgbClr val="006994"/>
          </a:solidFill>
          <a:ln w="12700">
            <a:solidFill>
              <a:srgbClr val="0069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3677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36392" y="1234440"/>
            <a:ext cx="2697480" cy="1691640"/>
          </a:xfrm>
          <a:prstGeom prst="rect">
            <a:avLst/>
          </a:prstGeom>
          <a:solidFill>
            <a:srgbClr val="243B55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36392" y="1234440"/>
            <a:ext cx="2697480" cy="3474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2618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27832" y="163677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ZoneID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IPAddress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CPU/Memory 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44184" y="1234440"/>
            <a:ext cx="2697480" cy="1691640"/>
          </a:xfrm>
          <a:prstGeom prst="rect">
            <a:avLst/>
          </a:prstGeom>
          <a:solidFill>
            <a:srgbClr val="243B55"/>
          </a:solidFill>
          <a:ln w="19050">
            <a:solidFill>
              <a:srgbClr val="4527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44184" y="1234440"/>
            <a:ext cx="2697480" cy="34747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12618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35624" y="163677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AccessLevel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108960"/>
            <a:ext cx="2697480" cy="1691640"/>
          </a:xfrm>
          <a:prstGeom prst="rect">
            <a:avLst/>
          </a:prstGeom>
          <a:solidFill>
            <a:srgbClr val="243B55"/>
          </a:solidFill>
          <a:ln w="19050">
            <a:solidFill>
              <a:srgbClr val="BF36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08960"/>
            <a:ext cx="2697480" cy="34747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36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NetworkLog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51129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DeviceID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DataUsageMB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36392" y="3108960"/>
            <a:ext cx="2697480" cy="1691640"/>
          </a:xfrm>
          <a:prstGeom prst="rect">
            <a:avLst/>
          </a:prstGeom>
          <a:solidFill>
            <a:srgbClr val="243B55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6392" y="3108960"/>
            <a:ext cx="269748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3136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27832" y="351129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DeviceID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StartTime/EndTime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44184" y="3108960"/>
            <a:ext cx="2697480" cy="1691640"/>
          </a:xfrm>
          <a:prstGeom prst="rect">
            <a:avLst/>
          </a:prstGeom>
          <a:solidFill>
            <a:srgbClr val="243B55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44184" y="3108960"/>
            <a:ext cx="2697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136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BandwidthUsage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35624" y="3511296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ZoneID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TotalUsageGB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PeakUsageGB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→ Device → NetworkLog ← Employee  |  Device → Incident  |  Zone → BandwidthUsage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0" y="777240"/>
            <a:ext cx="1645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0" y="777240"/>
            <a:ext cx="164592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795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10789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ZoneID PK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ZoneName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0" y="2011680"/>
            <a:ext cx="1920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2011680"/>
            <a:ext cx="192024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029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3134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DeviceID PK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ZoneID FK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DeviceType, IP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CPU%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94960" y="2011680"/>
            <a:ext cx="21031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4960" y="2011680"/>
            <a:ext cx="2103120" cy="2743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NETWORKLOG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23134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LogID PK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DeviceID FK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FK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DataMB, LatencyMS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AccessType, Status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132320" y="777240"/>
            <a:ext cx="17373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4527A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777240"/>
            <a:ext cx="1737360" cy="27432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795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107899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PK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Dept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AccessLevel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011680"/>
            <a:ext cx="1828800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029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23134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IncidentID PK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DeviceID FK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IncidentType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Start/EndTime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0" y="777240"/>
            <a:ext cx="19202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9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777240"/>
            <a:ext cx="1920240" cy="274320"/>
          </a:xfrm>
          <a:prstGeom prst="rect">
            <a:avLst/>
          </a:prstGeom>
          <a:solidFill>
            <a:srgbClr val="006994"/>
          </a:solidFill>
          <a:ln w="12700">
            <a:solidFill>
              <a:srgbClr val="0069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USAGE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10789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UsageID PK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ZoneID FK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TotalGB, PeakGB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79392" y="1463040"/>
            <a:ext cx="18288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115568"/>
            <a:ext cx="18288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487168"/>
            <a:ext cx="566928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2487168"/>
            <a:ext cx="384048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78040" y="1554480"/>
            <a:ext cx="18288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2029968"/>
            <a:ext cx="365760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639312"/>
            <a:ext cx="182880" cy="12801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611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→ Device (1:M)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867912"/>
            <a:ext cx="182880" cy="128016"/>
          </a:xfrm>
          <a:prstGeom prst="rect">
            <a:avLst/>
          </a:prstGeom>
          <a:solidFill>
            <a:srgbClr val="006994"/>
          </a:solidFill>
          <a:ln w="12700">
            <a:solidFill>
              <a:srgbClr val="00699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840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→ BandwidthUsage (1:M)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82880" cy="12801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069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→ NetworkLog (1:M)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325112"/>
            <a:ext cx="182880" cy="12801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→ Incident (1:M)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553712"/>
            <a:ext cx="182880" cy="128016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526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→ NetworkLog (1:M)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Categories — 20+ Metrics Tracked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4206240" cy="1737360"/>
          </a:xfrm>
          <a:prstGeom prst="rect">
            <a:avLst/>
          </a:prstGeom>
          <a:solidFill>
            <a:srgbClr val="243B55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4206240" cy="34747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8016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 (target &lt; 100ms)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Availability (target 99.9%+)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40864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Success Rate (target &gt; 98%)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42616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96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&amp; Peak Bandwidth (GB)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90872" y="1234440"/>
            <a:ext cx="4206240" cy="1737360"/>
          </a:xfrm>
          <a:prstGeom prst="rect">
            <a:avLst/>
          </a:prstGeom>
          <a:solidFill>
            <a:srgbClr val="243B55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0872" y="1234440"/>
            <a:ext cx="420624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8016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Reliability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28032" y="1737360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 Count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28032" y="2039112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Repair (MTTR)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28032" y="2340864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Between Failures (MTBF)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28032" y="2642616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596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 Incident Rate (%)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108960"/>
            <a:ext cx="4206240" cy="1737360"/>
          </a:xfrm>
          <a:prstGeom prst="rect">
            <a:avLst/>
          </a:prstGeom>
          <a:solidFill>
            <a:srgbClr val="243B5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108960"/>
            <a:ext cx="420624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315468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Data Consumers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913632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 Rate (%)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215384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Usage Ratio (%)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517136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471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Access (%)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3108960"/>
            <a:ext cx="4206240" cy="1737360"/>
          </a:xfrm>
          <a:prstGeom prst="rect">
            <a:avLst/>
          </a:prstGeom>
          <a:solidFill>
            <a:srgbClr val="243B55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90872" y="3108960"/>
            <a:ext cx="420624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15468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Fraud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28032" y="3611880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Activity Rate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28032" y="3913632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Spike Events (&gt;1000 MB)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28032" y="4215384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Access Risk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28032" y="4517136"/>
            <a:ext cx="73152" cy="7315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4471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High-Usage Flagging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965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Target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04872" y="777240"/>
            <a:ext cx="1965960" cy="914400"/>
          </a:xfrm>
          <a:prstGeom prst="rect">
            <a:avLst/>
          </a:prstGeom>
          <a:solidFill>
            <a:srgbClr val="0098B8"/>
          </a:solidFill>
          <a:ln w="12700">
            <a:solidFill>
              <a:srgbClr val="009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804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96312" y="1298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81144" y="777240"/>
            <a:ext cx="1965960" cy="914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804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72584" y="1298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57416" y="777240"/>
            <a:ext cx="1965960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8856" y="8046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Zones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48856" y="1298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Zones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28600" y="187452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4663440" y="187452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 &amp; RELIABILITY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82296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8229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KPIs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0" y="1325880"/>
            <a:ext cx="4297680" cy="914400"/>
          </a:xfrm>
          <a:prstGeom prst="rect">
            <a:avLst/>
          </a:prstGeom>
          <a:solidFill>
            <a:srgbClr val="243B55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0" y="1325880"/>
            <a:ext cx="10972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73168" y="1399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73168" y="1655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773168" y="19202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Repair — lower is better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0" y="2377440"/>
            <a:ext cx="4297680" cy="914400"/>
          </a:xfrm>
          <a:prstGeom prst="rect">
            <a:avLst/>
          </a:prstGeom>
          <a:solidFill>
            <a:srgbClr val="243B55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377440"/>
            <a:ext cx="109728" cy="9144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73168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73168" y="2706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hrs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773168" y="29718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Between Failures — higher is better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3429000"/>
            <a:ext cx="4297680" cy="914400"/>
          </a:xfrm>
          <a:prstGeom prst="rect">
            <a:avLst/>
          </a:prstGeom>
          <a:solidFill>
            <a:srgbClr val="243B5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3429000"/>
            <a:ext cx="109728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73168" y="3502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73168" y="3758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 / Low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773168" y="40233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incident classification system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1440" y="4416552"/>
            <a:ext cx="8778240" cy="628122"/>
          </a:xfrm>
          <a:prstGeom prst="rect">
            <a:avLst/>
          </a:prstGeom>
          <a:solidFill>
            <a:srgbClr val="0D1B2A"/>
          </a:solidFill>
          <a:ln w="9525">
            <a:solidFill>
              <a:srgbClr val="00C2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4430619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— Incident Duration: SELECT IncidentID, TIMESTAMPDIFF(MINUTE, StartTime, EndTime) AS DurationMins FROM Incident;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ANOMALY DETECTION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6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0" y="850392"/>
            <a:ext cx="841248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8503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8328" y="8686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Failed Logins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" y="1234440"/>
            <a:ext cx="3931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893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Status='Failed' GROUP BY EmployeeID HAVING COUNT(*) &gt; 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90872" y="777240"/>
            <a:ext cx="42062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36992" y="850392"/>
            <a:ext cx="841248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8503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00600" y="8686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234440"/>
            <a:ext cx="3931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893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HOUR(Timestamp) BETWEEN 0 AND 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167128"/>
            <a:ext cx="42062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6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2240280"/>
            <a:ext cx="841248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2402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8328" y="2258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Spike Anomaly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" y="2624328"/>
            <a:ext cx="3931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791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DataUsageMB &gt; AVG(DataUsageMB) * 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90872" y="2167128"/>
            <a:ext cx="42062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36992" y="2240280"/>
            <a:ext cx="841248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36992" y="22402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258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Access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624328"/>
            <a:ext cx="3931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6791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COUNT(DISTINCT DeviceID) &gt; 3 per Employee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557016"/>
            <a:ext cx="42062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6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3630168"/>
            <a:ext cx="841248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6301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328" y="36484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+ High Usage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8328" y="4014216"/>
            <a:ext cx="3931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AccessType='External' AND DataUsageMB &gt; 500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90872" y="3557016"/>
            <a:ext cx="42062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36992" y="3630168"/>
            <a:ext cx="841248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36301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00600" y="36484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Device Logs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4014216"/>
            <a:ext cx="3931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Device.Status='Inactive' but logs exist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security queries operate on NetworkLog, Device, and Employee tables — enabling real-time anomaly detection without external tools.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SHOWCASE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Analytical Queries — 5 Complexity Tiers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8686800" cy="621792"/>
          </a:xfrm>
          <a:prstGeom prst="rect">
            <a:avLst/>
          </a:prstGeom>
          <a:solidFill>
            <a:srgbClr val="243B55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07008"/>
            <a:ext cx="109728" cy="62179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SELECT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sorting, single-table queries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0" y="1316736"/>
            <a:ext cx="1005840" cy="365760"/>
          </a:xfrm>
          <a:prstGeom prst="rect">
            <a:avLst/>
          </a:prstGeom>
          <a:solidFill>
            <a:srgbClr val="00796B">
              <a:alpha val="80000"/>
            </a:srgbClr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3167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938528"/>
            <a:ext cx="8686800" cy="621792"/>
          </a:xfrm>
          <a:prstGeom prst="rect">
            <a:avLst/>
          </a:prstGeom>
          <a:solidFill>
            <a:srgbClr val="243B55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938528"/>
            <a:ext cx="109728" cy="62179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Queries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585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across Zone, Device, Employee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0" y="2048256"/>
            <a:ext cx="1005840" cy="365760"/>
          </a:xfrm>
          <a:prstGeom prst="rect">
            <a:avLst/>
          </a:prstGeom>
          <a:solidFill>
            <a:srgbClr val="0277BD">
              <a:alpha val="80000"/>
            </a:srgbClr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0482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670048"/>
            <a:ext cx="8686800" cy="621792"/>
          </a:xfrm>
          <a:prstGeom prst="rect">
            <a:avLst/>
          </a:prstGeom>
          <a:solidFill>
            <a:srgbClr val="243B5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670048"/>
            <a:ext cx="109728" cy="6217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15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9008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HAVING, COUNT, SUM, AVG analytics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0" y="2779776"/>
            <a:ext cx="1005840" cy="365760"/>
          </a:xfrm>
          <a:prstGeom prst="rect">
            <a:avLst/>
          </a:prstGeom>
          <a:solidFill>
            <a:srgbClr val="6A1B9A">
              <a:alpha val="8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77977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401568"/>
            <a:ext cx="8686800" cy="621792"/>
          </a:xfrm>
          <a:prstGeom prst="rect">
            <a:avLst/>
          </a:prstGeom>
          <a:solidFill>
            <a:srgbClr val="243B5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401568"/>
            <a:ext cx="109728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7216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LAG, LEAD, NTILE, cumulative analytics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0" y="3511296"/>
            <a:ext cx="1005840" cy="365760"/>
          </a:xfrm>
          <a:prstGeom prst="rect">
            <a:avLst/>
          </a:prstGeom>
          <a:solidFill>
            <a:srgbClr val="E65100">
              <a:alpha val="8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35112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133088"/>
            <a:ext cx="8686800" cy="621792"/>
          </a:xfrm>
          <a:prstGeom prst="rect">
            <a:avLst/>
          </a:prstGeom>
          <a:solidFill>
            <a:srgbClr val="243B55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4133088"/>
            <a:ext cx="109728" cy="6217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78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Anomaly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4531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Subqueries, spike detection, fraud patterns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72400" y="4242816"/>
            <a:ext cx="1005840" cy="365760"/>
          </a:xfrm>
          <a:prstGeom prst="rect">
            <a:avLst/>
          </a:prstGeom>
          <a:solidFill>
            <a:srgbClr val="B71C1C">
              <a:alpha val="80000"/>
            </a:srgbClr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2428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queries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ADVANCED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B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" y="8503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" y="1161288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unique rank to each log by data usage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8328" y="1463040"/>
            <a:ext cx="397764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C8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9047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 OVER (ORDER BY DataUsageMB DESC)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90872" y="7772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B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85039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/ DENSE_RANK()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161288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employees by usage — with/without gaps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397764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C8E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149047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DENSE_RANK() OVER (ORDER BY DataUsageMB DESC)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21945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B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" y="226771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LAG() / LEAD()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" y="2578608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vs previous data usage per employee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" y="2880360"/>
            <a:ext cx="397764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C8E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90779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LAG(DataUsageMB) OVER (PARTITION BY EmployeeID ORDER BY Timestamp)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90872" y="21945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B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226771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 OVER()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578608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Running/cumulative total data usage over time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2880360"/>
            <a:ext cx="397764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C8E6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290779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SUM(DataUsageMB) OVER (ORDER BY Timestamp)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36118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B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" y="3685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NTILE(4)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" y="3995928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logs into quartiles by usage (Q1–Q4)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8328" y="4297680"/>
            <a:ext cx="397764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C8E6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432511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NTILE(4) OVER (ORDER BY DataUsageMB DESC)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90872" y="36118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B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368503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PERCENT_RANK()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3995928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percentile data consumers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4297680"/>
            <a:ext cx="397764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C8E6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5464" y="432511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PERCENT_RANK() OVER (ORDER BY DataUsageMB)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 ANALYTICS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segmented across 3 operational zones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09728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097280"/>
          <a:ext cx="4389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28600" y="3840480"/>
            <a:ext cx="2743200" cy="1097280"/>
          </a:xfrm>
          <a:prstGeom prst="rect">
            <a:avLst/>
          </a:prstGeom>
          <a:solidFill>
            <a:srgbClr val="243B55"/>
          </a:solidFill>
          <a:ln w="9525">
            <a:solidFill>
              <a:srgbClr val="00C2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38328" y="38862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38328" y="41879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Devices  |  72ms avg  |  Incidents: 18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38328" y="4480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Attention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136392" y="3840480"/>
            <a:ext cx="2743200" cy="1097280"/>
          </a:xfrm>
          <a:prstGeom prst="rect">
            <a:avLst/>
          </a:prstGeom>
          <a:solidFill>
            <a:srgbClr val="243B55"/>
          </a:solidFill>
          <a:ln w="9525">
            <a:solidFill>
              <a:srgbClr val="00C2E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46120" y="38862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46120" y="41879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Devices  |  95ms avg  |  Incidents: 12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246120" y="4480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Normal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44184" y="3840480"/>
            <a:ext cx="2743200" cy="1097280"/>
          </a:xfrm>
          <a:prstGeom prst="rect">
            <a:avLst/>
          </a:prstGeom>
          <a:solidFill>
            <a:srgbClr val="243B55"/>
          </a:solidFill>
          <a:ln w="9525">
            <a:solidFill>
              <a:srgbClr val="00C2E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53912" y="38862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53912" y="41879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Devices  |  63ms avg  |  Incidents: 7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153912" y="44805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PERFORMANCE MONITORING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77724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7772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Health Metrics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343400" cy="237743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Uptime (Days)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120+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Usage (Avg)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Usage (Avg)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Latency Devices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devices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 Devices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devices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Log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82880" y="3657600"/>
            <a:ext cx="8778240" cy="1280160"/>
          </a:xfrm>
          <a:prstGeom prst="rect">
            <a:avLst/>
          </a:prstGeom>
          <a:solidFill>
            <a:srgbClr val="243B55"/>
          </a:solidFill>
          <a:ln w="9525">
            <a:solidFill>
              <a:srgbClr val="00C2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3730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Device Queries: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40050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Devices with High Latency: SELECT DeviceID, AVG(LatencyMS) FROM NetworkLog GROUP BY DeviceID HAVING AVG(LatencyMS) &gt; 200;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Device Failure Rate: SELECT DeviceID, (COUNT(CASE WHEN Status='Failed' THEN 1 END) * 100.0) / COUNT(*) FROM NetworkLog GROUP BY DeviceID;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ANALYTICS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7772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486400" y="77724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228600" y="38404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 Insights: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228600" y="4206240"/>
            <a:ext cx="2057400" cy="777240"/>
          </a:xfrm>
          <a:prstGeom prst="rect">
            <a:avLst/>
          </a:prstGeom>
          <a:solidFill>
            <a:srgbClr val="243B55"/>
          </a:solidFill>
          <a:ln w="9525">
            <a:solidFill>
              <a:srgbClr val="0098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4251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activity: 9AM–3PM (business hours)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441448" y="4206240"/>
            <a:ext cx="2057400" cy="777240"/>
          </a:xfrm>
          <a:prstGeom prst="rect">
            <a:avLst/>
          </a:prstGeom>
          <a:solidFill>
            <a:srgbClr val="243B55"/>
          </a:solidFill>
          <a:ln w="9525">
            <a:solidFill>
              <a:srgbClr val="0098B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32888" y="4251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access (0-6AM) = potential security flag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654296" y="4206240"/>
            <a:ext cx="2057400" cy="777240"/>
          </a:xfrm>
          <a:prstGeom prst="rect">
            <a:avLst/>
          </a:prstGeom>
          <a:solidFill>
            <a:srgbClr val="243B55"/>
          </a:solidFill>
          <a:ln w="9525">
            <a:solidFill>
              <a:srgbClr val="0098B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45736" y="4251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usage ratio tracked as a KPI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867144" y="4206240"/>
            <a:ext cx="2057400" cy="777240"/>
          </a:xfrm>
          <a:prstGeom prst="rect">
            <a:avLst/>
          </a:prstGeom>
          <a:solidFill>
            <a:srgbClr val="243B55"/>
          </a:solidFill>
          <a:ln w="9525">
            <a:solidFill>
              <a:srgbClr val="0098B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58584" y="4251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data consumers identified daily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8503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9418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NetworkDB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31920" y="8503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5072" y="9418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Normalized Tables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8503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9418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223760" y="8503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96912" y="9418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LogID for scale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2011680"/>
            <a:ext cx="182880" cy="32004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48840"/>
            <a:ext cx="8595360" cy="1234440"/>
          </a:xfrm>
          <a:prstGeom prst="rect">
            <a:avLst/>
          </a:prstGeom>
          <a:solidFill>
            <a:srgbClr val="0098B8"/>
          </a:solidFill>
          <a:ln w="12700">
            <a:solidFill>
              <a:srgbClr val="0098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22219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9152" y="23134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SQL Queries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0" y="22219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23134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&amp; Window Fns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22219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23134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&amp; CTEs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23760" y="22219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96912" y="23134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Computation Views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3383280"/>
            <a:ext cx="182880" cy="32004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520440"/>
            <a:ext cx="8595360" cy="12344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35935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9152" y="36850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BI Tool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31920" y="35935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36850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35935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6850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Reports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23760" y="3593592"/>
            <a:ext cx="1554480" cy="10241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96912" y="3685032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MySQL  |  Language: SQL (DDL + DML + DQL)  |  Scale: Enterprise Network  |  Data Volume: Millions of log rows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3200400" cy="27432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Network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Analytics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46304" cy="146304"/>
          </a:xfrm>
          <a:prstGeom prst="ellipse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6-table normalized relational database (NetworkDB)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46304" cy="146304"/>
          </a:xfrm>
          <a:prstGeom prst="ellipse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96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SQL queries across 5 complexity tiers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89504"/>
            <a:ext cx="146304" cy="146304"/>
          </a:xfrm>
          <a:prstGeom prst="ellipse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437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KPIs spanning performance, security &amp; reliability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146304" cy="146304"/>
          </a:xfrm>
          <a:prstGeom prst="ellipse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912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&amp; security threat detection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146304" cy="146304"/>
          </a:xfrm>
          <a:prstGeom prst="ellipse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387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Device &amp; Employee granular analytics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146304" cy="146304"/>
          </a:xfrm>
          <a:prstGeom prst="ellipse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86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for advanced time-series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4622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NetworkDB  ·  MySQL  ·  SQL Analytics  ·  Enterprise Network Operations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1277</Words>
  <Application>Microsoft Office PowerPoint</Application>
  <PresentationFormat>On-screen Show (16:9)</PresentationFormat>
  <Paragraphs>304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Network Operations &amp; Performance Analytics</dc:title>
  <dc:subject>PptxGenJS Presentation</dc:subject>
  <dc:creator>PptxGenJS</dc:creator>
  <cp:lastModifiedBy>SANTANU PATHAK</cp:lastModifiedBy>
  <cp:revision>3</cp:revision>
  <dcterms:created xsi:type="dcterms:W3CDTF">2026-04-21T15:02:54Z</dcterms:created>
  <dcterms:modified xsi:type="dcterms:W3CDTF">2026-04-21T15:34:20Z</dcterms:modified>
</cp:coreProperties>
</file>